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762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807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206240" cy="411480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74320"/>
            <a:ext cx="347472" cy="34747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94360"/>
            <a:ext cx="1463040" cy="1463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2240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AeroMind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548640" y="3035808"/>
            <a:ext cx="3108960" cy="2743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82880" y="31089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Aircraft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Voice Assistant System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404648" y="53457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4364303" y="407470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364303" y="4024174"/>
            <a:ext cx="4389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4590991" y="4873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Programming Assistant ·  2025–2026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E9BF6A91-B77F-3787-8412-12E9E357ACB7}"/>
              </a:ext>
            </a:extLst>
          </p:cNvPr>
          <p:cNvSpPr/>
          <p:nvPr/>
        </p:nvSpPr>
        <p:spPr>
          <a:xfrm>
            <a:off x="4364303" y="4436134"/>
            <a:ext cx="918313" cy="237041"/>
          </a:xfrm>
          <a:prstGeom prst="roundRect">
            <a:avLst>
              <a:gd name="adj" fmla="val 12500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ctr"/>
            <a:r>
              <a:rPr lang="en-IN" sz="900" dirty="0"/>
              <a:t>Archana M P</a:t>
            </a:r>
          </a:p>
        </p:txBody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BC61A3F1-2ADB-D9AC-6728-3A5AD9FC52A3}"/>
              </a:ext>
            </a:extLst>
          </p:cNvPr>
          <p:cNvSpPr/>
          <p:nvPr/>
        </p:nvSpPr>
        <p:spPr>
          <a:xfrm>
            <a:off x="8203249" y="4412688"/>
            <a:ext cx="918313" cy="237041"/>
          </a:xfrm>
          <a:prstGeom prst="roundRect">
            <a:avLst>
              <a:gd name="adj" fmla="val 12500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ctr"/>
            <a:r>
              <a:rPr lang="en-IN" sz="900" dirty="0"/>
              <a:t>Noufiya J N</a:t>
            </a:r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E1B9AF93-F7B0-2988-F164-EF1059CC1840}"/>
              </a:ext>
            </a:extLst>
          </p:cNvPr>
          <p:cNvSpPr/>
          <p:nvPr/>
        </p:nvSpPr>
        <p:spPr>
          <a:xfrm>
            <a:off x="7245853" y="4416437"/>
            <a:ext cx="918313" cy="237041"/>
          </a:xfrm>
          <a:prstGeom prst="roundRect">
            <a:avLst>
              <a:gd name="adj" fmla="val 12500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ctr"/>
            <a:r>
              <a:rPr lang="en-IN" sz="900" dirty="0"/>
              <a:t>Priya Raj P R</a:t>
            </a:r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762EB3FC-1319-AFBE-D1AE-6322A24CF2D4}"/>
              </a:ext>
            </a:extLst>
          </p:cNvPr>
          <p:cNvSpPr/>
          <p:nvPr/>
        </p:nvSpPr>
        <p:spPr>
          <a:xfrm>
            <a:off x="6288457" y="4428866"/>
            <a:ext cx="918313" cy="237041"/>
          </a:xfrm>
          <a:prstGeom prst="roundRect">
            <a:avLst>
              <a:gd name="adj" fmla="val 12500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ctr"/>
            <a:r>
              <a:rPr lang="en-IN" sz="900" dirty="0"/>
              <a:t>Rimi Sivakumar</a:t>
            </a:r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4FB10207-1642-5814-F1D3-054595388D5C}"/>
              </a:ext>
            </a:extLst>
          </p:cNvPr>
          <p:cNvSpPr/>
          <p:nvPr/>
        </p:nvSpPr>
        <p:spPr>
          <a:xfrm>
            <a:off x="5326380" y="4436133"/>
            <a:ext cx="918313" cy="237041"/>
          </a:xfrm>
          <a:prstGeom prst="roundRect">
            <a:avLst>
              <a:gd name="adj" fmla="val 12500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ctr"/>
            <a:r>
              <a:rPr lang="en-IN" sz="900" dirty="0"/>
              <a:t>Hema V</a:t>
            </a:r>
          </a:p>
        </p:txBody>
      </p:sp>
      <p:pic>
        <p:nvPicPr>
          <p:cNvPr id="1028" name="Picture 4" descr="10,000+ Free Jet Engine &amp; Jet Images - Pixabay">
            <a:extLst>
              <a:ext uri="{FF2B5EF4-FFF2-40B4-BE49-F238E27FC236}">
                <a16:creationId xmlns:a16="http://schemas.microsoft.com/office/drawing/2014/main" id="{6157BEE8-06FB-2384-C0F2-2FF739ABC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0" y="776564"/>
            <a:ext cx="4404648" cy="293522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11480" y="9875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AeroMind?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1444752"/>
            <a:ext cx="201168" cy="201168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13232" y="13990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AeroMind is a machine learning based predictive maintenance system built for aircraft turbofan engines.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80" y="2103120"/>
            <a:ext cx="201168" cy="201168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13232" y="20574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analyzes real-time sensor data to predict the Remaining Useful Life (RUL) of engines.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2761488"/>
            <a:ext cx="201168" cy="201168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13232" y="27157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enables airlines to schedule maintenance before engine failure — preventing accidents and reducing costs.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1480" y="3419856"/>
            <a:ext cx="201168" cy="201168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13232" y="33741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deployed as an interactive Streamlit web dashboard with voice assistant capabilities.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15000" y="960120"/>
            <a:ext cx="3246120" cy="3886200"/>
          </a:xfrm>
          <a:prstGeom prst="roundRect">
            <a:avLst>
              <a:gd name="adj" fmla="val 2817"/>
            </a:avLst>
          </a:prstGeom>
          <a:solidFill>
            <a:srgbClr val="F0F5FF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852160" y="107899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52160" y="1426464"/>
            <a:ext cx="2834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852160" y="1536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Dataset: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242048" y="15361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CMAPSS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852160" y="19751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Algorithm: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242048" y="19751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852160" y="24140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Accuracy: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242048" y="24140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0.968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852160" y="2852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Error: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242048" y="28529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8.9 cycles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852160" y="3291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Models: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242048" y="3291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+ 1 LSTM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52160" y="3730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Feature: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242048" y="373075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852160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Platform: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242048" y="41696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950" dirty="0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B0556D8E-7B9A-1171-5A1C-EC144134D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7432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11480" y="9601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engine failures are a critical challenge in the aviation industry.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46304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1517904"/>
            <a:ext cx="2743200" cy="1783080"/>
          </a:xfrm>
          <a:prstGeom prst="roundRect">
            <a:avLst>
              <a:gd name="adj" fmla="val 3077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16276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29968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engines only after failure leads to accidents, flight cancellations and emergency costs.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46304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337560" y="1517904"/>
            <a:ext cx="2743200" cy="1783080"/>
          </a:xfrm>
          <a:prstGeom prst="roundRect">
            <a:avLst>
              <a:gd name="adj" fmla="val 3077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474720" y="16276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Maintenance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0" y="2029968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at fixed intervals wastes resources — healthy engines get unnecessarily grounded.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63640" y="146304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263640" y="1517904"/>
            <a:ext cx="2743200" cy="1783080"/>
          </a:xfrm>
          <a:prstGeom prst="roundRect">
            <a:avLst>
              <a:gd name="adj" fmla="val 3077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0" y="16276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Financial Loss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0" y="2029968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costs $10,000 to $150,000 per hour for airlines globally.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1480" y="3456432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40080" y="3584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011680" y="3547872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to predict engine failure BEFORE it occurs. By analyzing sensor data continuously, AeroMind gives maintenance teams advance warning — saving lives and reducing costs by up to 40%.</a:t>
            </a:r>
            <a:endParaRPr lang="en-US" sz="105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FF9CFFCE-A6DE-D277-0B61-7C19A8A45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7432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11480" y="9875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CMAPSS Dataset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444752"/>
            <a:ext cx="45720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901952" y="1435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Ames Research Center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1480" y="1773936"/>
            <a:ext cx="45720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8640" y="1764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901952" y="17647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train_FD001.txt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480" y="2103120"/>
            <a:ext cx="45720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640" y="20939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901952" y="20939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turbofan engines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1480" y="2432304"/>
            <a:ext cx="45720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48640" y="2423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901952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20,631 sensor readings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2761488"/>
            <a:ext cx="45720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48640" y="27523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Sensors: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901952" y="2752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sensors + 3 op. settings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3090672"/>
            <a:ext cx="45720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8640" y="30815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901952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sensors (6 dropped)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11480" y="3419856"/>
            <a:ext cx="45720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48640" y="3410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901952" y="34107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= max_cycle − current_cycle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11480" y="3749040"/>
            <a:ext cx="45720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48640" y="37398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901952" y="37398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validation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11480" y="4078224"/>
            <a:ext cx="45720" cy="2286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48640" y="4069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901952" y="4069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→ 0 to 1 range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9204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892040" y="1472184"/>
            <a:ext cx="237744" cy="237744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892040" y="1472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212080" y="144475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 —  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528816" y="1444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NASA CMAPSS space-separated file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892040" y="1819656"/>
            <a:ext cx="237744" cy="237744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892040" y="1819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212080" y="179222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—  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528816" y="1792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RUL column, name all columns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892040" y="2167128"/>
            <a:ext cx="237744" cy="237744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4892040" y="2167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5212080" y="213969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—  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528816" y="2139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6 zero-variance sensor columns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892040" y="2514600"/>
            <a:ext cx="237744" cy="237744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4892040" y="2514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5212080" y="248716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Split  —  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528816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training, 20% validation (random_state=42)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892040" y="2862072"/>
            <a:ext cx="237744" cy="237744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4892040" y="2862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5212080" y="283464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 —  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6528816" y="2834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fit on train, transform both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892040" y="3209544"/>
            <a:ext cx="237744" cy="237744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4892040" y="32095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212080" y="31821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 —  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6528816" y="31821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 ML models + LSTM comparison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892040" y="3557016"/>
            <a:ext cx="237744" cy="237744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4892040" y="3557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212080" y="352958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—  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6528816" y="3529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MAE, RMSE, R² across models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892040" y="3904488"/>
            <a:ext cx="237744" cy="237744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4892040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5212080" y="38770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 —  </a:t>
            </a:r>
            <a:endParaRPr lang="en-US" sz="950" dirty="0"/>
          </a:p>
        </p:txBody>
      </p:sp>
      <p:sp>
        <p:nvSpPr>
          <p:cNvPr id="66" name="Text 63"/>
          <p:cNvSpPr/>
          <p:nvPr/>
        </p:nvSpPr>
        <p:spPr>
          <a:xfrm>
            <a:off x="6528816" y="3877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deployed in Streamlit dashboard</a:t>
            </a:r>
            <a:endParaRPr lang="en-US" sz="900" dirty="0"/>
          </a:p>
        </p:txBody>
      </p:sp>
      <p:pic>
        <p:nvPicPr>
          <p:cNvPr id="68" name="Image 0" descr="preencoded.png">
            <a:extLst>
              <a:ext uri="{FF2B5EF4-FFF2-40B4-BE49-F238E27FC236}">
                <a16:creationId xmlns:a16="http://schemas.microsoft.com/office/drawing/2014/main" id="{7103718C-F133-7FE2-A6DE-670B34448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7432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11480" y="960120"/>
            <a:ext cx="2706624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11480" y="96012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54680" y="960120"/>
            <a:ext cx="1152144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154680" y="96012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1152144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343400" y="96012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32120" y="960120"/>
            <a:ext cx="1152144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532120" y="96012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20840" y="960120"/>
            <a:ext cx="1335024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720840" y="9601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1480" y="1353312"/>
            <a:ext cx="270662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57200" y="135331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54680" y="1353312"/>
            <a:ext cx="115214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200400" y="1353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43400" y="1353312"/>
            <a:ext cx="115214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389120" y="1353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32120" y="1353312"/>
            <a:ext cx="115214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577840" y="1353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0.663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720840" y="1353312"/>
            <a:ext cx="133502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766560" y="135331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Weak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1755648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57200" y="175564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154680" y="1755648"/>
            <a:ext cx="115214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200400" y="17556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343400" y="1755648"/>
            <a:ext cx="115214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389120" y="17556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532120" y="1755648"/>
            <a:ext cx="115214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577840" y="17556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720840" y="1755648"/>
            <a:ext cx="13350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766560" y="17556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Average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11480" y="2157984"/>
            <a:ext cx="270662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57200" y="215798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154680" y="2157984"/>
            <a:ext cx="115214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3200400" y="215798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343400" y="2157984"/>
            <a:ext cx="115214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4389120" y="215798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532120" y="2157984"/>
            <a:ext cx="115214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5577840" y="215798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720840" y="2157984"/>
            <a:ext cx="133502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6766560" y="215798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11480" y="2560320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457200" y="256032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154680" y="2560320"/>
            <a:ext cx="115214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00400" y="256032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343400" y="2560320"/>
            <a:ext cx="115214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4389120" y="256032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532120" y="2560320"/>
            <a:ext cx="115214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5577840" y="256032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720840" y="2560320"/>
            <a:ext cx="13350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6766560" y="25603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Average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11480" y="2962656"/>
            <a:ext cx="2706624" cy="365760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457200" y="296265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3154680" y="2962656"/>
            <a:ext cx="1152144" cy="365760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6"/>
          <p:cNvSpPr/>
          <p:nvPr/>
        </p:nvSpPr>
        <p:spPr>
          <a:xfrm>
            <a:off x="3200400" y="296265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343400" y="2962656"/>
            <a:ext cx="1152144" cy="365760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4389120" y="296265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5532120" y="2962656"/>
            <a:ext cx="1152144" cy="365760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5577840" y="296265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720840" y="2962656"/>
            <a:ext cx="1335024" cy="365760"/>
          </a:xfrm>
          <a:prstGeom prst="rect">
            <a:avLst/>
          </a:prstGeom>
          <a:solidFill>
            <a:srgbClr val="EE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/>
          <p:nvPr/>
        </p:nvSpPr>
        <p:spPr>
          <a:xfrm>
            <a:off x="6766560" y="296265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11480" y="2962656"/>
            <a:ext cx="54864" cy="365760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4"/>
          <p:cNvSpPr/>
          <p:nvPr/>
        </p:nvSpPr>
        <p:spPr>
          <a:xfrm>
            <a:off x="411480" y="3364992"/>
            <a:ext cx="270662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5"/>
          <p:cNvSpPr/>
          <p:nvPr/>
        </p:nvSpPr>
        <p:spPr>
          <a:xfrm>
            <a:off x="457200" y="336499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(Deep)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3154680" y="3364992"/>
            <a:ext cx="115214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0" y="336499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60.6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343400" y="3364992"/>
            <a:ext cx="115214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4389120" y="336499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5532120" y="3364992"/>
            <a:ext cx="115214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1"/>
          <p:cNvSpPr/>
          <p:nvPr/>
        </p:nvSpPr>
        <p:spPr>
          <a:xfrm>
            <a:off x="5577840" y="336499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-0.27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6720840" y="3364992"/>
            <a:ext cx="1335024" cy="3657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3"/>
          <p:cNvSpPr/>
          <p:nvPr/>
        </p:nvSpPr>
        <p:spPr>
          <a:xfrm>
            <a:off x="6766560" y="336499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Failed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411480" y="38587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LSTM failed because it requires sequential time-series input, but our data was shuffled tabular format. XGBoost handles this perfectly.</a:t>
            </a:r>
            <a:endParaRPr lang="en-US" sz="950" dirty="0"/>
          </a:p>
        </p:txBody>
      </p:sp>
      <p:pic>
        <p:nvPicPr>
          <p:cNvPr id="79" name="Image 0" descr="preencoded.png">
            <a:extLst>
              <a:ext uri="{FF2B5EF4-FFF2-40B4-BE49-F238E27FC236}">
                <a16:creationId xmlns:a16="http://schemas.microsoft.com/office/drawing/2014/main" id="{9572A6C5-7898-9F89-03EF-B0C49FD4F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7432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is the Best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11480" y="987552"/>
            <a:ext cx="2286000" cy="3858768"/>
          </a:xfrm>
          <a:prstGeom prst="roundRect">
            <a:avLst>
              <a:gd name="adj" fmla="val 4000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11480" y="1170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5361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640080" y="2267712"/>
            <a:ext cx="1828800" cy="18288"/>
          </a:xfrm>
          <a:prstGeom prst="rect">
            <a:avLst/>
          </a:prstGeom>
          <a:solidFill>
            <a:srgbClr val="3A5A8E"/>
          </a:solidFill>
          <a:ln w="12700">
            <a:solidFill>
              <a:srgbClr val="3A5A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 cycles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3090672"/>
            <a:ext cx="1828800" cy="18288"/>
          </a:xfrm>
          <a:prstGeom prst="rect">
            <a:avLst/>
          </a:prstGeom>
          <a:solidFill>
            <a:srgbClr val="3A5A8E"/>
          </a:solidFill>
          <a:ln w="12700">
            <a:solidFill>
              <a:srgbClr val="3A5A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1148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 cycles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11480" y="4041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 Accuracy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80360" y="987552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2880360" y="987552"/>
            <a:ext cx="2834640" cy="45720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990088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990088" y="142646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corrects errors of the previous one — iteratively improves.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79592" y="987552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5879592" y="987552"/>
            <a:ext cx="2834640" cy="45720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989320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Regularization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989320" y="142646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and L2 regularization prevents overfitting automatically.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880360" y="2313432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2880360" y="2313432"/>
            <a:ext cx="2834640" cy="45720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990088" y="2423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Tabular Data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990088" y="27523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on row-level sensor data without needing sequential ordering.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879592" y="2313432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5879592" y="2313432"/>
            <a:ext cx="2834640" cy="45720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989320" y="2423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Parallel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989320" y="27523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tree building — trains quickly even on large datasets.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880360" y="3639312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2880360" y="3639312"/>
            <a:ext cx="2834640" cy="45720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2990088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990088" y="407822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ranks which sensors matter most for prediction.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879592" y="3639312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5879592" y="3639312"/>
            <a:ext cx="2834640" cy="45720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989320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Noise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989320" y="407822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sensor noise and outliers common in aviation data.</a:t>
            </a:r>
            <a:endParaRPr lang="en-US" sz="950" dirty="0"/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EA6EC4E1-DCCF-FA31-196A-26DC379D9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7432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4 Modules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2084832" cy="3913632"/>
          </a:xfrm>
          <a:prstGeom prst="roundRect">
            <a:avLst>
              <a:gd name="adj" fmla="val 4386"/>
            </a:avLst>
          </a:prstGeom>
          <a:solidFill>
            <a:srgbClr val="F0F5FF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74320" y="960120"/>
            <a:ext cx="2084832" cy="502920"/>
          </a:xfrm>
          <a:prstGeom prst="roundRect">
            <a:avLst>
              <a:gd name="adj" fmla="val 18182"/>
            </a:avLst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1261872"/>
            <a:ext cx="2084832" cy="201168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74320" y="987552"/>
            <a:ext cx="5029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" y="10058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65760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" y="1920240"/>
            <a:ext cx="175564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38912" y="2093976"/>
            <a:ext cx="137160" cy="137160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0080" y="199339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Distribution Histogram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38912" y="2660904"/>
            <a:ext cx="137160" cy="137160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0080" y="256032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Degradation Chart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8912" y="3227832"/>
            <a:ext cx="137160" cy="137160"/>
          </a:xfrm>
          <a:prstGeom prst="ellipse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40080" y="31272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Heatmap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87168" y="960120"/>
            <a:ext cx="2084832" cy="3913632"/>
          </a:xfrm>
          <a:prstGeom prst="roundRect">
            <a:avLst>
              <a:gd name="adj" fmla="val 4386"/>
            </a:avLst>
          </a:prstGeom>
          <a:solidFill>
            <a:srgbClr val="F0F5FF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487168" y="960120"/>
            <a:ext cx="2084832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487168" y="1261872"/>
            <a:ext cx="208483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2487168" y="987552"/>
            <a:ext cx="5029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962656" y="10058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2578608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Arena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651760" y="1920240"/>
            <a:ext cx="175564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2651760" y="2093976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852928" y="199339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 ML Models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651760" y="2660904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852928" y="256032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+ Radar Charts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651760" y="3227832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2852928" y="31272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(3 graphs)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700016" y="960120"/>
            <a:ext cx="2084832" cy="3913632"/>
          </a:xfrm>
          <a:prstGeom prst="roundRect">
            <a:avLst>
              <a:gd name="adj" fmla="val 4386"/>
            </a:avLst>
          </a:prstGeom>
          <a:solidFill>
            <a:srgbClr val="F0F5FF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700016" y="960120"/>
            <a:ext cx="2084832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4700016" y="1261872"/>
            <a:ext cx="208483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700016" y="987552"/>
            <a:ext cx="5029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75504" y="10058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✈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4791456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864608" y="1920240"/>
            <a:ext cx="175564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4864608" y="2093976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5065776" y="199339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Sensor Input Form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864608" y="2660904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065776" y="256032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XGBoost Prediction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864608" y="3227832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5065776" y="31272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Gauge + Status Badge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6912864" y="960120"/>
            <a:ext cx="2084832" cy="3913632"/>
          </a:xfrm>
          <a:prstGeom prst="roundRect">
            <a:avLst>
              <a:gd name="adj" fmla="val 4386"/>
            </a:avLst>
          </a:prstGeom>
          <a:solidFill>
            <a:srgbClr val="F0F5FF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6912864" y="960120"/>
            <a:ext cx="2084832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6912864" y="1261872"/>
            <a:ext cx="208483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6912864" y="987552"/>
            <a:ext cx="5029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7388352" y="10058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50" name="Text 47"/>
          <p:cNvSpPr/>
          <p:nvPr/>
        </p:nvSpPr>
        <p:spPr>
          <a:xfrm>
            <a:off x="7004304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7077456" y="1920240"/>
            <a:ext cx="175564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9"/>
          <p:cNvSpPr/>
          <p:nvPr/>
        </p:nvSpPr>
        <p:spPr>
          <a:xfrm>
            <a:off x="7077456" y="2093976"/>
            <a:ext cx="137160" cy="1371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7278624" y="199339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Topic Q&amp;A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7077456" y="2660904"/>
            <a:ext cx="137160" cy="1371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7278624" y="256032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Status by ID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7077456" y="3227832"/>
            <a:ext cx="137160" cy="1371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7278624" y="31272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Recognition (Speech AI)</a:t>
            </a:r>
            <a:endParaRPr lang="en-US" sz="95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608AFF84-DCD7-F7E0-E935-579B55F6B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7432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Prediction &amp; Engine Health Status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20240" y="1435608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011680" y="13533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84832" y="9601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084832" y="96012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39312" y="1435608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730752" y="13533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03904" y="9601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803904" y="96012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58384" y="1435608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449824" y="13533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22976" y="9601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522976" y="96012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77456" y="1435608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168896" y="13533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242048" y="96012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242048" y="96012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2103120"/>
            <a:ext cx="2798064" cy="2011680"/>
          </a:xfrm>
          <a:prstGeom prst="roundRect">
            <a:avLst>
              <a:gd name="adj" fmla="val 4545"/>
            </a:avLst>
          </a:prstGeom>
          <a:solidFill>
            <a:srgbClr val="F0FDF8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365760" y="2176272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475488" y="26974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5488" y="30632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&gt; 100 cycles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5488" y="340156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normal operations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310128" y="2103120"/>
            <a:ext cx="2798064" cy="201168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310128" y="2176272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3419856" y="26974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MAINTENANCE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419856" y="30632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30–100 cycles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419856" y="340156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maintenance service soon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254496" y="2103120"/>
            <a:ext cx="2798064" cy="2011680"/>
          </a:xfrm>
          <a:prstGeom prst="roundRect">
            <a:avLst>
              <a:gd name="adj" fmla="val 4545"/>
            </a:avLst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254496" y="2176272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6364224" y="26974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INSPECTION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364224" y="30632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&lt; 30 cycles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364224" y="340156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inspect immediately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365760" y="4297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RUL  =  max_cycle  −  current_cycle</a:t>
            </a:r>
            <a:endParaRPr lang="en-US" sz="1200" dirty="0"/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9B036D9E-EFA0-A797-1A18-923D6EDF8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7432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&amp; Voice Assistant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11480" y="960120"/>
            <a:ext cx="8503920" cy="621792"/>
          </a:xfrm>
          <a:prstGeom prst="roundRect">
            <a:avLst>
              <a:gd name="adj" fmla="val 8824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Flow:   🎤 "engine five"   →   sounddevice records audio   →   Google Speech API   →   "engine 5"   →   XGBoost predicts   →   ✅ Status shown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" y="1719072"/>
            <a:ext cx="2084832" cy="3127248"/>
          </a:xfrm>
          <a:prstGeom prst="roundRect">
            <a:avLst>
              <a:gd name="adj" fmla="val 3509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11480" y="1719072"/>
            <a:ext cx="2084832" cy="438912"/>
          </a:xfrm>
          <a:prstGeom prst="roundRect">
            <a:avLst>
              <a:gd name="adj" fmla="val 16667"/>
            </a:avLst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11480" y="1975104"/>
            <a:ext cx="2084832" cy="182880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" y="1737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Concepts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1208" y="2267712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6072" y="22860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XGBoost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1208" y="2834640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76072" y="285292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RUL?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21208" y="3401568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76072" y="341985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vs LSTM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21208" y="3968496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76072" y="398678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Overfitting?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24328" y="1719072"/>
            <a:ext cx="2084832" cy="3127248"/>
          </a:xfrm>
          <a:prstGeom prst="roundRect">
            <a:avLst>
              <a:gd name="adj" fmla="val 3509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624328" y="1719072"/>
            <a:ext cx="2084832" cy="43891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624328" y="1975104"/>
            <a:ext cx="2084832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715768" y="1737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Metrics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34056" y="2267712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2788920" y="22860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MAE?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734056" y="2834640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788920" y="285292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RMSE?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34056" y="3401568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788920" y="341985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accuracy?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34056" y="3968496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2788920" y="398678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score?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837176" y="1719072"/>
            <a:ext cx="2084832" cy="3127248"/>
          </a:xfrm>
          <a:prstGeom prst="roundRect">
            <a:avLst>
              <a:gd name="adj" fmla="val 3509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837176" y="1719072"/>
            <a:ext cx="2084832" cy="438912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4837176" y="1975104"/>
            <a:ext cx="208483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928616" y="1737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Fleet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946904" y="2267712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5001768" y="22860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5 status?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946904" y="2834640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001768" y="285292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engines?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946904" y="3401568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5001768" y="341985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946904" y="3968496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5001768" y="398678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 schedule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7050024" y="1719072"/>
            <a:ext cx="2084832" cy="3127248"/>
          </a:xfrm>
          <a:prstGeom prst="roundRect">
            <a:avLst>
              <a:gd name="adj" fmla="val 3509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7050024" y="1719072"/>
            <a:ext cx="2084832" cy="43891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7050024" y="1975104"/>
            <a:ext cx="208483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7141464" y="1737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Guidance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159752" y="2267712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7214616" y="22860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predict?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7159752" y="2834640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7214616" y="285292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 maint?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7159752" y="3401568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7214616" y="341985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Hyperparameters?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7159752" y="3968496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7214616" y="398678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format?</a:t>
            </a:r>
            <a:endParaRPr lang="en-US" sz="950" dirty="0"/>
          </a:p>
        </p:txBody>
      </p:sp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3A1B66EA-4FC9-D41C-6A71-4AB8F3FBE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7432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11480" y="960120"/>
            <a:ext cx="2084832" cy="1508760"/>
          </a:xfrm>
          <a:prstGeom prst="roundRect">
            <a:avLst>
              <a:gd name="adj" fmla="val 6061"/>
            </a:avLst>
          </a:prstGeom>
          <a:solidFill>
            <a:srgbClr val="F0F5FF"/>
          </a:solidFill>
          <a:ln w="254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11480" y="1024128"/>
            <a:ext cx="2084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11480" y="18288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24328" y="960120"/>
            <a:ext cx="2084832" cy="1508760"/>
          </a:xfrm>
          <a:prstGeom prst="roundRect">
            <a:avLst>
              <a:gd name="adj" fmla="val 6061"/>
            </a:avLst>
          </a:prstGeom>
          <a:solidFill>
            <a:srgbClr val="F0F5F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624328" y="1024128"/>
            <a:ext cx="2084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2624328" y="18288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(cycles)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37176" y="960120"/>
            <a:ext cx="2084832" cy="1508760"/>
          </a:xfrm>
          <a:prstGeom prst="roundRect">
            <a:avLst>
              <a:gd name="adj" fmla="val 6061"/>
            </a:avLst>
          </a:prstGeom>
          <a:solidFill>
            <a:srgbClr val="F0F5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837176" y="1024128"/>
            <a:ext cx="2084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4837176" y="18288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050024" y="960120"/>
            <a:ext cx="2084832" cy="1508760"/>
          </a:xfrm>
          <a:prstGeom prst="roundRect">
            <a:avLst>
              <a:gd name="adj" fmla="val 6061"/>
            </a:avLst>
          </a:prstGeom>
          <a:solidFill>
            <a:srgbClr val="F0F5FF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050024" y="1024128"/>
            <a:ext cx="2084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7050024" y="18288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1480" y="26517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3017520"/>
            <a:ext cx="877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48056" y="307238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1380744" y="3017520"/>
            <a:ext cx="877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417320" y="307238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2350008" y="3017520"/>
            <a:ext cx="877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386584" y="307238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3319272" y="3017520"/>
            <a:ext cx="877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355848" y="307238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4288536" y="3017520"/>
            <a:ext cx="877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325112" y="307238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5257800" y="3017520"/>
            <a:ext cx="877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294376" y="307238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6227064" y="3017520"/>
            <a:ext cx="877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263640" y="307238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API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7196328" y="3017520"/>
            <a:ext cx="877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7232904" y="307238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8165592" y="3017520"/>
            <a:ext cx="87782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8202168" y="307238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411480" y="3822192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94360" y="3913632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AeroMind successfully predicts aircraft engine Remaining Useful Life with 96.8% accuracy using XGBoost. The system provides airlines with an intelligent, real-time health monitoring platform that prevents failures, reduces maintenance costs by 40%, and improves passenger safety — all through an easy-to-use Streamlit dashboard.</a:t>
            </a:r>
            <a:endParaRPr lang="en-US" sz="1000" dirty="0"/>
          </a:p>
        </p:txBody>
      </p: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48CCC587-62BB-AA92-A334-9ED1C498F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7432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807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206240" cy="411480"/>
          </a:xfrm>
          <a:prstGeom prst="rect">
            <a:avLst/>
          </a:prstGeom>
          <a:solidFill>
            <a:srgbClr val="1A5FD4"/>
          </a:solidFill>
          <a:ln w="12700">
            <a:solidFill>
              <a:srgbClr val="1A5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943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2240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2962656"/>
            <a:ext cx="2743200" cy="2743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2860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434840" y="5029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868680"/>
            <a:ext cx="44805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434840" y="10241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87568" y="1024128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Aircraft Predictive Maintenance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Voice Assistant System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34840" y="16184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87568" y="1618488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CMAPSS — 100 engines, 20,631 rows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34840" y="22128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87568" y="2212848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R² = 0.968, MAE = 8.9 cycles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34840" y="280720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87568" y="2807208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4 interactive modules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3484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87568" y="3401568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+ AI Chatbot (20+ topics)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434840" y="39959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87568" y="3995928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failure reduction, 40% cost savings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434840" y="4681728"/>
            <a:ext cx="44805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434840" y="47731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Programming Assistant ·  2025–2026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982</Words>
  <Application>Microsoft Office PowerPoint</Application>
  <PresentationFormat>On-screen Show (16:9)</PresentationFormat>
  <Paragraphs>274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megha v</cp:lastModifiedBy>
  <cp:revision>3</cp:revision>
  <dcterms:created xsi:type="dcterms:W3CDTF">2026-06-14T02:08:47Z</dcterms:created>
  <dcterms:modified xsi:type="dcterms:W3CDTF">2026-06-14T13:52:02Z</dcterms:modified>
</cp:coreProperties>
</file>